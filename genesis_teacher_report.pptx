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2563EB"/>
                </a:solidFill>
                <a:latin typeface="PingFang SC"/>
              </a:rPr>
              <a:t>GENESIS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PingFang SC"/>
              </a:rPr>
              <a:t>采样阶段结构约束的生成建模研究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PingFang SC"/>
              </a:rPr>
              <a:t>不重训练主模型，在采样过程中通过显式投影控制生成轨迹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40480"/>
            <a:ext cx="10698480" cy="10058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PingFang SC"/>
              </a:rPr>
              <a:t>核心问题：</a:t>
            </a:r>
            <a:r>
              <a:rPr sz="1300" b="0">
                <a:solidFill>
                  <a:srgbClr val="1E293B"/>
                </a:solidFill>
                <a:latin typeface="PingFang SC"/>
              </a:rPr>
              <a:t>给定已训练的 Conditional Flow Matching 模型，能否在采样阶段加入结构约束，让样本既像真实数据，又遵守物理/结构规律？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BD5E1"/>
                </a:solidFill>
                <a:latin typeface="PingFang SC"/>
              </a:rPr>
              <a:t>阶段性汇报  |  2026-04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0" y="274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ingFang SC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背景与方法概览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PingFang SC"/>
              </a:rPr>
              <a:t>为什么做这件事，以及怎么做的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7335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生成模型优化的是“整体分布像不像”，但单个样本不保证满足结构规则。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938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例如：墨水量乱飞、质心偏移、图像太毛刺、形状走样、对称数字不对称。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31136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我的思路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7860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不动已训练的 Conditional Flow Matching 模型，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在采样时每走一步后，显式投影 / 校正，把样本拉回约束集合。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37560"/>
            <a:ext cx="192024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293B"/>
                </a:solidFill>
                <a:latin typeface="PingFang SC"/>
              </a:rPr>
              <a:t>噪声 z₀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3337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  <a:latin typeface="PingFang S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71800" y="3337560"/>
            <a:ext cx="192024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3337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流模型走一步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0328" y="3337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  <a:latin typeface="PingFang S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3337560"/>
            <a:ext cx="1920240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3337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D4ED8"/>
                </a:solidFill>
                <a:latin typeface="PingFang SC"/>
              </a:rPr>
              <a:t>约束校正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0608" y="3337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  <a:latin typeface="PingFang SC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3337560"/>
            <a:ext cx="192024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3337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…重复…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3337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  <a:latin typeface="PingFang SC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92640" y="3337560"/>
            <a:ext cx="192024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3337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293B"/>
                </a:solidFill>
                <a:latin typeface="PingFang SC"/>
              </a:rPr>
              <a:t>最终样本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9319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三种方法对比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2793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PingFang SC"/>
              </a:rPr>
              <a:t>方法 A：不管约束，只把像素截断到 [0, 1]。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480559"/>
            <a:ext cx="10881360" cy="542544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eq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549140"/>
            <a:ext cx="2724912" cy="40538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22960" y="5077967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PingFang SC"/>
              </a:rPr>
              <a:t>方法 B：加惩罚项，把样本往回推一点。但依赖超参数 λ。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279135"/>
            <a:ext cx="10881360" cy="533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eq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347715"/>
            <a:ext cx="3011424" cy="3962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22960" y="586739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PingFang SC"/>
              </a:rPr>
              <a:t>方法 C (GENESIS)：直接投影回约束集合，硬校正。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6068567"/>
            <a:ext cx="10881360" cy="533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eq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6137147"/>
            <a:ext cx="2136648" cy="39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0" y="274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ingFang SC"/>
              </a:rPr>
              <a:t>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五类约束一览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PingFang SC"/>
              </a:rPr>
              <a:t>从精确解析到优化近似，数学地位依次递减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6576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1435608"/>
            <a:ext cx="219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PingFang SC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1417320"/>
            <a:ext cx="13716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1435608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PingFang SC"/>
              </a:rPr>
              <a:t>约束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417320"/>
            <a:ext cx="38404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42032" y="1435608"/>
            <a:ext cx="3694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PingFang SC"/>
              </a:rPr>
              <a:t>一句话说明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417320"/>
            <a:ext cx="29260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435608"/>
            <a:ext cx="2779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PingFang SC"/>
              </a:rPr>
              <a:t>求解方法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0" y="1417320"/>
            <a:ext cx="256032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00032" y="1435608"/>
            <a:ext cx="24140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PingFang SC"/>
              </a:rPr>
              <a:t>数学地位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874519"/>
            <a:ext cx="36576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1" y="1920239"/>
            <a:ext cx="219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PingFang SC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1874519"/>
            <a:ext cx="137160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" y="1920239"/>
            <a:ext cx="1225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PingFang SC"/>
              </a:rPr>
              <a:t>Ink 墨水量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1874519"/>
            <a:ext cx="384048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42032" y="1920239"/>
            <a:ext cx="3694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PingFang SC"/>
              </a:rPr>
              <a:t>像素灰度总和 = 类别平均墨水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874519"/>
            <a:ext cx="292608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1920239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PingFang SC"/>
              </a:rPr>
              <a:t>KKT 闭式解 + 二分法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0" y="1874519"/>
            <a:ext cx="256032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00032" y="1920239"/>
            <a:ext cx="2414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PingFang SC"/>
              </a:rPr>
              <a:t>精确凸投影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496312"/>
            <a:ext cx="365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1" y="2542032"/>
            <a:ext cx="219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PingFang SC"/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1560" y="2496312"/>
            <a:ext cx="1371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4712" y="2542032"/>
            <a:ext cx="1225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PingFang SC"/>
              </a:rPr>
              <a:t>Centroid 质心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68880" y="2496312"/>
            <a:ext cx="3840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42032" y="2542032"/>
            <a:ext cx="3694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PingFang SC"/>
              </a:rPr>
              <a:t>图像重心坐标 = 目标位置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496312"/>
            <a:ext cx="2926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2" y="2542032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PingFang SC"/>
              </a:rPr>
              <a:t>双线性插值平移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26880" y="2496312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00032" y="2542032"/>
            <a:ext cx="2414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PingFang SC"/>
              </a:rPr>
              <a:t>实用校正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118104"/>
            <a:ext cx="36576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1" y="3163824"/>
            <a:ext cx="219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PingFang SC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1560" y="3118104"/>
            <a:ext cx="137160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24712" y="3163824"/>
            <a:ext cx="1225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PingFang SC"/>
              </a:rPr>
              <a:t>TV 总变差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68880" y="3118104"/>
            <a:ext cx="384048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42032" y="3163824"/>
            <a:ext cx="3694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PingFang SC"/>
              </a:rPr>
              <a:t>相邻像素跳变总量 ≤ 阈值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5080" y="3118104"/>
            <a:ext cx="292608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8232" y="3163824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PingFang SC"/>
              </a:rPr>
              <a:t>Chambolle 迭代 + 二分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3118104"/>
            <a:ext cx="256032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00032" y="3163824"/>
            <a:ext cx="2414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PingFang SC"/>
              </a:rPr>
              <a:t>数值投影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3739896"/>
            <a:ext cx="365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1" y="3785615"/>
            <a:ext cx="219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PingFang SC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51560" y="3739896"/>
            <a:ext cx="1371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24712" y="3785615"/>
            <a:ext cx="1225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PingFang SC"/>
              </a:rPr>
              <a:t>Hu 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0" y="3739896"/>
            <a:ext cx="3840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42032" y="3785615"/>
            <a:ext cx="3694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PingFang SC"/>
              </a:rPr>
              <a:t>图像形状统计量接近目标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55080" y="3739896"/>
            <a:ext cx="2926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28232" y="3785615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PingFang SC"/>
              </a:rPr>
              <a:t>Adam 优化对齐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26880" y="3739896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00032" y="3785615"/>
            <a:ext cx="2414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PingFang SC"/>
              </a:rPr>
              <a:t>优化式校正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" y="4361688"/>
            <a:ext cx="36576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3231" y="4407407"/>
            <a:ext cx="219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PingFang SC"/>
              </a:rPr>
              <a:t>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51560" y="4361688"/>
            <a:ext cx="137160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24712" y="4407407"/>
            <a:ext cx="1225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PingFang SC"/>
              </a:rPr>
              <a:t>D2 对称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68880" y="4361688"/>
            <a:ext cx="384048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42032" y="4407407"/>
            <a:ext cx="3694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PingFang SC"/>
              </a:rPr>
              <a:t>左右 + 上下对称 (0/8)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55080" y="4361688"/>
            <a:ext cx="292608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28232" y="4407407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PingFang SC"/>
              </a:rPr>
              <a:t>群平均 ¼(x+H+V+R)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26880" y="4361688"/>
            <a:ext cx="256032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00032" y="4407407"/>
            <a:ext cx="2414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PingFang SC"/>
              </a:rPr>
              <a:t>精确正交投影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" y="5303520"/>
            <a:ext cx="10881360" cy="13716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53400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PingFang SC"/>
              </a:rPr>
              <a:t>Takeaway  </a:t>
            </a:r>
            <a:r>
              <a:rPr sz="1100" b="0">
                <a:solidFill>
                  <a:srgbClr val="64748B"/>
                </a:solidFill>
                <a:latin typeface="PingFang SC"/>
              </a:rPr>
              <a:t>每个约束接下来用 2–3 页展开：直觉 → 定义 → 求解 → 实验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0" y="274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ingFang SC"/>
              </a:rPr>
              <a:t>Ink  1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Ink 墨水量约束：这是什么？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PingFang SC"/>
              </a:rPr>
              <a:t>第一步：直觉含义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什么是墨水量？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一张 MNIST 图像是 28×28 = 784 个像素。每个像素的灰度在 0（白色）到 1（黑色）之间。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7510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“墨水量”就是所有 784 个像素的灰度值加起来，反映这张图总共用了多少“墨”。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3113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它和日常生活中的“这张图多黑”是同一个意思。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7860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为什么要约束墨水量？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不同数字的墨水量天然不同：数字 1 笔画少、墨水少；数字 8 笔画多、墨水多。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8211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如果模型生成的“1”和“8”墨水量一样多，那它就没有守住“总量预算”。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3814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在科学数据增强场景中，墨水量偏差意味着生成的样本统计特征失真，不可靠。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85616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我们要做的事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3308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给每个数字类别 c 算出它在真实数据中的平均墨水量 S_c。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891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强制要求：生成的每张图的像素灰度之和严格等于 S_c，且每个像素仍在 [0, 1] 范围内。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989320"/>
            <a:ext cx="10881360" cy="13716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PingFang SC"/>
              </a:rPr>
              <a:t>Takeaway  </a:t>
            </a:r>
            <a:r>
              <a:rPr sz="1100" b="0">
                <a:solidFill>
                  <a:srgbClr val="64748B"/>
                </a:solidFill>
                <a:latin typeface="PingFang SC"/>
              </a:rPr>
              <a:t>墨水量是最直观的约束：控制“总共用多少墨”。接下来看它的数学定义。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0" y="274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ingFang SC"/>
              </a:rPr>
              <a:t>Ink  2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Ink 墨水量：数学定义与投影问题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PingFang SC"/>
              </a:rPr>
              <a:t>第二步：把直觉写成公式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约束集合的定义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把“所有像素加起来等于目标值，同时每个像素在 0 到 1 之间”写成集合：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75104"/>
            <a:ext cx="10881360" cy="134416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q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43684"/>
            <a:ext cx="6915912" cy="12070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3374136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PingFang SC"/>
              </a:rPr>
              <a:t>这叫 capped simplex：像素被截断在 [0,1] 且总和固定为 S_c。S_c 是每个数字类别的真实平均墨水量。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“投影”的含义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9651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模型每走一步会生成一张图 y，但 y 可能不在集合 M 里（墨水量不对）。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5254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“投影”的意思就是：找到 M 里面离 y 最近的那个点，也就是对原图改动最少的满足约束的图。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0857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数学上写作：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864608"/>
            <a:ext cx="10881360" cy="1085087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eq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933188"/>
            <a:ext cx="9168384" cy="9479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960" y="6004560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PingFang SC"/>
              </a:rPr>
              <a:t>这是一个标准的凸优化问题：目标是二次的、约束是线性的，有全局最优解。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989320"/>
            <a:ext cx="10881360" cy="13716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PingFang SC"/>
              </a:rPr>
              <a:t>Takeaway  </a:t>
            </a:r>
            <a:r>
              <a:rPr sz="1100" b="0">
                <a:solidFill>
                  <a:srgbClr val="64748B"/>
                </a:solidFill>
                <a:latin typeface="PingFang SC"/>
              </a:rPr>
              <a:t>问题已定义清楚：找满足约束且离原图最近的图。接下来看怎么求解。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0" y="274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ingFang SC"/>
              </a:rPr>
              <a:t>Ink  3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Ink 墨水量：怎么求解 + 实验结果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PingFang SC"/>
              </a:rPr>
              <a:t>KKT 闭式解 + 二分法求 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KKT 条件给出闭式解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用拉格朗日乘子法求解上面的优化问题，得到一个非常干净的结果：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75104"/>
            <a:ext cx="7040880" cy="6705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q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43684"/>
            <a:ext cx="3072384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2700528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PingFang SC"/>
              </a:rPr>
              <a:t>含义：每个像素减去同一个常数 τ，然后截断到 [0, 1]。只需要确定 τ 是多少就行。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1424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怎么找 τ？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58896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τ 由总和约束确定。定义一个关于 τ 的函数：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14928"/>
            <a:ext cx="7040880" cy="98755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q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83508"/>
            <a:ext cx="3608832" cy="8503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60" y="4657344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PingFang SC"/>
              </a:rPr>
              <a:t>f(τ) 关于 τ 单调递减，所以可以用二分法精确求解。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49952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数学地位：精确凸投影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97424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满足可行性、幂等性、非扩张性。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553456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这是当前所有约束中数学最干净的一个。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1371600"/>
            <a:ext cx="228600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14173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PingFang SC"/>
              </a:rPr>
              <a:t>A violation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16916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4ED8"/>
                </a:solidFill>
                <a:latin typeface="Cambria Math"/>
              </a:rPr>
              <a:t>193.57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2286000"/>
            <a:ext cx="228600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23317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PingFang SC"/>
              </a:rPr>
              <a:t>B violation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6060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4ED8"/>
                </a:solidFill>
                <a:latin typeface="Cambria Math"/>
              </a:rPr>
              <a:t>8.29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3200400"/>
            <a:ext cx="228600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32461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EFF6FF"/>
                </a:solidFill>
                <a:latin typeface="PingFang SC"/>
              </a:rPr>
              <a:t>C violation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520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mbria Math"/>
              </a:rPr>
              <a:t>5.2×10⁻⁶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41280" y="1371600"/>
            <a:ext cx="228600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19" y="14173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PingFang SC"/>
              </a:rPr>
              <a:t>C accuracy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19" y="16916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4ED8"/>
                </a:solidFill>
                <a:latin typeface="Cambria Math"/>
              </a:rPr>
              <a:t>0.837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41280" y="2286000"/>
            <a:ext cx="228600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19" y="23317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PingFang SC"/>
              </a:rPr>
              <a:t>B accuracy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19" y="26060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4ED8"/>
                </a:solidFill>
                <a:latin typeface="Cambria Math"/>
              </a:rPr>
              <a:t>0.848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160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PingFang SC"/>
              </a:rPr>
              <a:t>约束满足远强于 B，质量基本无差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989320"/>
            <a:ext cx="10881360" cy="13716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PingFang SC"/>
              </a:rPr>
              <a:t>Takeaway  </a:t>
            </a:r>
            <a:r>
              <a:rPr sz="1100" b="0">
                <a:solidFill>
                  <a:srgbClr val="64748B"/>
                </a:solidFill>
                <a:latin typeface="PingFang SC"/>
              </a:rPr>
              <a:t>Ink 是证据链最强的一类：有解析解、实验效果极强、质量不损。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0" y="274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ingFang SC"/>
              </a:rPr>
              <a:t>Centroid  1 /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Centroid 质心约束：这是什么？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PingFang SC"/>
              </a:rPr>
              <a:t>图像的“重心”应该在正确位置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直觉解释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把每个像素的灰度当作质量，整张图就有一个“重心”位置。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7510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数字应该大致居中；如果重心跑到角落，说明结构不对。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3113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在数据增强场景中，位置偏移会让下游模型学到系统性偏差。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7860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质心的数学定义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水平方向重心 = 每个像素的“列号 × 灰度”之和，除以总灰度：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82112"/>
            <a:ext cx="10881360" cy="1213104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q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250692"/>
            <a:ext cx="1652016" cy="10759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" y="4450080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PingFang SC"/>
              </a:rPr>
              <a:t>垂直方向重心 c_y 类似，只是把 j 换成 i。i = 行号，j = 列号，x_ij = 像素灰度。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33543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目标：让生成图的质心等于真实数据中该类别的平均质心 (c_x*, c_y*)。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989320"/>
            <a:ext cx="10881360" cy="13716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PingFang SC"/>
              </a:rPr>
              <a:t>Takeaway  </a:t>
            </a:r>
            <a:r>
              <a:rPr sz="1100" b="0">
                <a:solidFill>
                  <a:srgbClr val="64748B"/>
                </a:solidFill>
                <a:latin typeface="PingFang SC"/>
              </a:rPr>
              <a:t>质心约束保证数字“在该在的位置”。接下来看怎么校正。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0" y="274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ingFang SC"/>
              </a:rPr>
              <a:t>Centroid  2 /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Centroid 质心：校正方法与数学地位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PingFang SC"/>
              </a:rPr>
              <a:t>平移校正 — 实用但不是严格投影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校正方法：平移整张图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算出当前质心和目标质心的差值，用双线性插值平移：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75104"/>
            <a:ext cx="7040880" cy="673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q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43684"/>
            <a:ext cx="2721864" cy="53644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" y="2703576"/>
            <a:ext cx="7040880" cy="5943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q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79776"/>
            <a:ext cx="2865120" cy="441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3352800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PingFang SC"/>
              </a:rPr>
              <a:t>先算偏差，再把图像整体平移。双线性插值保证平滑。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81983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为什么这不是严格“投影”？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29455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投影 = 找离原图最近的满足约束的图。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8548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我们是直接平移，不是在求解最近点。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4152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质心是非线性函数，没有简单的投影闭式解。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9755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对老师讲：“实用校正，不是严格投影”。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1371600"/>
            <a:ext cx="228600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14173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PingFang SC"/>
              </a:rPr>
              <a:t>cx viol 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16916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4ED8"/>
                </a:solidFill>
                <a:latin typeface="Cambria Math"/>
              </a:rPr>
              <a:t>0.0123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41280" y="1371600"/>
            <a:ext cx="228600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19" y="14173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EFF6FF"/>
                </a:solidFill>
                <a:latin typeface="PingFang SC"/>
              </a:rPr>
              <a:t>cx viol 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9" y="16916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mbria Math"/>
              </a:rPr>
              <a:t>0.0012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2286000"/>
            <a:ext cx="228600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23317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PingFang SC"/>
              </a:rPr>
              <a:t>cy viol 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6060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4ED8"/>
                </a:solidFill>
                <a:latin typeface="Cambria Math"/>
              </a:rPr>
              <a:t>0.0144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1280" y="2286000"/>
            <a:ext cx="228600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19" y="23317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EFF6FF"/>
                </a:solidFill>
                <a:latin typeface="PingFang SC"/>
              </a:rPr>
              <a:t>cy viol  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19" y="26060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mbria Math"/>
              </a:rPr>
              <a:t>0.0010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4502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注意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49249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高频施加 centroid 投影是多约束场景下的主要质量瓶颈，是下一步优先改造的对象。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989320"/>
            <a:ext cx="10881360" cy="13716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PingFang SC"/>
              </a:rPr>
              <a:t>Takeaway  </a:t>
            </a:r>
            <a:r>
              <a:rPr sz="1100" b="0">
                <a:solidFill>
                  <a:srgbClr val="64748B"/>
                </a:solidFill>
                <a:latin typeface="PingFang SC"/>
              </a:rPr>
              <a:t>实用有效但理论纯度不如 Ink。对老师讲时必须说清“这不是严格投影”。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0" y="274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ingFang SC"/>
              </a:rPr>
              <a:t>TV  1 /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TV 总变差约束：这是什么？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PingFang SC"/>
              </a:rPr>
              <a:t>控制图像的“毛刺程度”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直觉解释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Total Variation（总变差）衡量的是相邻像素之间的跳变有多剧烈。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7510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真实手写字笔画连续平滑，不应该有大量随机噪点。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3113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TV 太大 = 图像太糙糙、充满突变，像“没写完的草稿”。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7860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数学定义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把垂直方向和水平方向每对相邻像素的差的绝对值都加起来：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82112"/>
            <a:ext cx="10881360" cy="85953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q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250692"/>
            <a:ext cx="4498848" cy="7223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" y="4096512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PingFang SC"/>
              </a:rPr>
              <a:t>第一项是上下相邻像素的跳变，第二项是左右相邻像素的跳变，绝对值求和。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25696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约束集合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773168"/>
            <a:ext cx="10881360" cy="5943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q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847844"/>
            <a:ext cx="2386584" cy="4450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2960" y="5422392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PingFang SC"/>
              </a:rPr>
              <a:t>所有 TV 不超过阈值 τ_c 的图像。τ_c 是该类别真实数据的平均 TV。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989320"/>
            <a:ext cx="10881360" cy="13716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PingFang SC"/>
              </a:rPr>
              <a:t>Takeaway  </a:t>
            </a:r>
            <a:r>
              <a:rPr sz="1100" b="0">
                <a:solidFill>
                  <a:srgbClr val="64748B"/>
                </a:solidFill>
                <a:latin typeface="PingFang SC"/>
              </a:rPr>
              <a:t>TV 是图像处理中非常经典的指标。接下来看怎么把图像拉回 TV 不超标的区域。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0" y="274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ingFang SC"/>
              </a:rPr>
              <a:t>TV  2 /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TV 总变差：求解方法与实验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PingFang SC"/>
              </a:rPr>
              <a:t>Chambolle 迭代 — 经典凸优化，无闭式解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为什么没有闭式解？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Ink 能像素级独立求解，但 TV 不行。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75104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原因：TV 涉及相邻像素耦合 + 绝对值。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31136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但 TV 是凸函数，有唯一解，只是需要迭代求解。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Chambolle 风格迭代算法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利用 TV 的对偶表示，转化为 proximal 问题。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63824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每轮更新对偶变量，然后重建图像。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19856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外层二分搜索调整强度，直到 TV(x) = τ_c。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7588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这是图像处理中成熟的标准算法。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1371600"/>
            <a:ext cx="228600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4173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PingFang SC"/>
              </a:rPr>
              <a:t>tv excess 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6916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4ED8"/>
                </a:solidFill>
                <a:latin typeface="Cambria Math"/>
              </a:rPr>
              <a:t>6.96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41280" y="1371600"/>
            <a:ext cx="228600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9" y="14173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EFF6FF"/>
                </a:solidFill>
                <a:latin typeface="PingFang SC"/>
              </a:rPr>
              <a:t>tv excess 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9" y="16916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mbria Math"/>
              </a:rPr>
              <a:t>0.304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233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数学地位：数值投影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708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比 Centroid 更规范（经典凸优化），比 Ink 少了解析闭式解，但数值精度很高。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62686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实验中 TV 不是多约束场景下的主要质量瓶颈。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989320"/>
            <a:ext cx="10881360" cy="13716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PingFang SC"/>
              </a:rPr>
              <a:t>Takeaway  </a:t>
            </a:r>
            <a:r>
              <a:rPr sz="1100" b="0">
                <a:solidFill>
                  <a:srgbClr val="64748B"/>
                </a:solidFill>
                <a:latin typeface="PingFang SC"/>
              </a:rPr>
              <a:t>数学规范的数值投影；实验表现稳定，不伤质量。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0" y="274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ingFang SC"/>
              </a:rPr>
              <a:t>Hu  1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Hu 矩约束：这是什么？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PingFang SC"/>
              </a:rPr>
              <a:t>图像的“整体形状指纹”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直觉解释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前面三个约束看的是“总量”“位置”“平滑度”，都是比较局部的信息。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7510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Hu 矩不一样：它看的是整张图的“形状”，更像一种“整体指纹”。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3113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比如：数字 0 应该圆派，数字 1 应该细长。Hu 矩能区分这种差异。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871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如果 Hu 矩偏离目标太多，生成的图就会“形状走样”。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我们用的两个 Hu 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8211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h₁：反映图像的“扩散程度”——图像是紧凑集中的，还是分散开的？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3814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h₂：反映图像的“拉长程度”——图像是圆派的，还是细长的？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9417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举例：数字 0 的 h₁ 大（分布广）、h₂ 小（圆）；数字 1 的 h₁ 小、h₂ 大（细长）。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4164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约束目标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891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计算每个类别 c 在真实数据中的平均 h₁*, h₂*，要求生成图接近这些目标值。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989320"/>
            <a:ext cx="10881360" cy="13716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PingFang SC"/>
              </a:rPr>
              <a:t>Takeaway  </a:t>
            </a:r>
            <a:r>
              <a:rPr sz="1100" b="0">
                <a:solidFill>
                  <a:srgbClr val="64748B"/>
                </a:solidFill>
                <a:latin typeface="PingFang SC"/>
              </a:rPr>
              <a:t>Hu 矩是一种“高层”约束：不看单个像素，而是看整体形状。接下来看公式。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0" y="274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ingFang SC"/>
              </a:rPr>
              <a:t>Hu  2 /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Hu 矩：中心矩与归一化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PingFang SC"/>
              </a:rPr>
              <a:t>第一步和第二步：从像素到形状特征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第一步：中心矩 —— 每个像素偏离重心的“矩”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先找到图像的重心 (ī, ĵ)，然后算每个像素偏离重心多远，并用灰度 xᵢⱼ 加权：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75104"/>
            <a:ext cx="10881360" cy="972311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q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43684"/>
            <a:ext cx="3364992" cy="8351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3002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E293B"/>
                </a:solidFill>
                <a:latin typeface="PingFang SC"/>
              </a:rPr>
              <a:t>其中 i = 行号，j = 列号，xᵢⱼ = 该像素的灰度值，m+n 叫做“阶”。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5831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E293B"/>
                </a:solidFill>
                <a:latin typeface="PingFang SC"/>
              </a:rPr>
              <a:t>直觉：每个像素贡献一个“偏离重心的距离 × 灰度”，全部加起来。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1434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E293B"/>
                </a:solidFill>
                <a:latin typeface="PingFang SC"/>
              </a:rPr>
              <a:t>举例：μ₂₀ 表示“垂直方向上像素离重心多远”，μ₀₂ 表示水平方向。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8010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第二步：归一化 —— 消除图像亮度和尺度的影响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2757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同一个数字，写得重和写得轻、写得大和写得小，中心矩的值会不同。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8360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为了只比较“形状”而不受“大小”影响，用总质量 μ₀₀ 做归一化：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739640"/>
            <a:ext cx="10881360" cy="85953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q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808220"/>
            <a:ext cx="2127504" cy="722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2960" y="5654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E293B"/>
                </a:solidFill>
                <a:latin typeface="PingFang SC"/>
              </a:rPr>
              <a:t>μ₀₀ 就是所有像素灰度之和（即墨水量）。分母的幂次随阶数增大。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9100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E293B"/>
                </a:solidFill>
                <a:latin typeface="PingFang SC"/>
              </a:rPr>
              <a:t>归一化后的 η 只反映形状，不受图像整体明暗或缩放影响。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989320"/>
            <a:ext cx="10881360" cy="13716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PingFang SC"/>
              </a:rPr>
              <a:t>Takeaway  </a:t>
            </a:r>
            <a:r>
              <a:rPr sz="1100" b="0">
                <a:solidFill>
                  <a:srgbClr val="64748B"/>
                </a:solidFill>
                <a:latin typeface="PingFang SC"/>
              </a:rPr>
              <a:t>中心矩描述像素围绕重心的分布；归一化后只保留形状信息。接下来看如何组合成 Hu 不变量。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0" y="274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ingFang SC"/>
              </a:rPr>
              <a:t>Hu  3 /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Hu 矩：组合成不变量 h₁ 和 h₂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PingFang SC"/>
              </a:rPr>
              <a:t>第三步：从归一化矩到形状指纹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h₁：图像的扩散程度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19072"/>
            <a:ext cx="10881360" cy="664464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q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7651"/>
            <a:ext cx="2225040" cy="5273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24384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η₂₀ 是垂直方向的二阶矩，η₀₂ 是水平方向的二阶矩。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4431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加起来 = 图像在两个方向上总共多“分散”。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5046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值越大 = 像素离重心越远 = 图像越分散。比如数字 0 的 h₁ &gt; 数字 1 的 h₁。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43656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h₂：图像的拉长程度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91128"/>
            <a:ext cx="10881360" cy="725424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q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59708"/>
            <a:ext cx="3654552" cy="5882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60" y="447141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第一项：垂直 vs 水平方向的“偏差”——如果两个方向一样散，这项为 0。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274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第二项：交叉矩 η₁₁ 反映“斜向拉长”。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83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加起来 = 图像总共多“拉长”。值越大 = 图像越细长。比如数字 1 的 h₂ &gt; 数字 0 的 h₂。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492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为什么叫“不变量”？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9671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h₁ 和 h₂ 对平移、缩放、旋转都不敏感——同一个数字无论怎么移动、放大、旋转，值都一样。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95274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所以它们是真正的“形状指纹”，可以跟真实数据的目标值直接比较。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989320"/>
            <a:ext cx="10881360" cy="13716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PingFang SC"/>
              </a:rPr>
              <a:t>Takeaway  </a:t>
            </a:r>
            <a:r>
              <a:rPr sz="1100" b="0">
                <a:solidFill>
                  <a:srgbClr val="64748B"/>
                </a:solidFill>
                <a:latin typeface="PingFang SC"/>
              </a:rPr>
              <a:t>h₁ 看“多散”，h₂ 看“多长”。两个指标共同刻画了数字的整体形状。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0" y="274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ingFang SC"/>
              </a:rPr>
              <a:t>Hu  4 /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Hu 矩：求解方法与关键发现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PingFang SC"/>
              </a:rPr>
              <a:t>优化式校正 + 最亮实验结果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求解方法：Adam 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Hu 矩是像素的复杂非线性函数，没有解析闭式解。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75104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做法：用 Adam 迭代若干步，让 h(x) 接近 h*：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31136"/>
            <a:ext cx="7040880" cy="70408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q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99716"/>
            <a:ext cx="3834384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2990088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PingFang SC"/>
              </a:rPr>
              <a:t>每步 Adam 更新后截断像素到 [0, 1]。这是 approximate alignment。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00984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关键发现：约束和质量同时改善（双赢）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48456"/>
            <a:ext cx="6583680" cy="914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94176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这不是“约束更强但质量更差”，而是两者都在变好。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PingFang SC"/>
              </a:rPr>
              <a:t>提示：某些高层结构约束可能在帮助采样轨迹进入更自然的区域。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3648456"/>
            <a:ext cx="228600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369417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PingFang SC"/>
              </a:rPr>
              <a:t>accuracy 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968496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4ED8"/>
                </a:solidFill>
                <a:latin typeface="Cambria Math"/>
              </a:rPr>
              <a:t>0.372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0" y="3648456"/>
            <a:ext cx="228600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0" y="369417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EFF6FF"/>
                </a:solidFill>
                <a:latin typeface="PingFang SC"/>
              </a:rPr>
              <a:t>accuracy 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3968496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mbria Math"/>
              </a:rPr>
              <a:t>0.700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4654296"/>
            <a:ext cx="228600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70001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PingFang SC"/>
              </a:rPr>
              <a:t>h₁ 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974336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4ED8"/>
                </a:solidFill>
                <a:latin typeface="Cambria Math"/>
              </a:rPr>
              <a:t>0.275→0.011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0" y="4654296"/>
            <a:ext cx="228600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470001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PingFang SC"/>
              </a:rPr>
              <a:t>h₂ error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4974336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4ED8"/>
                </a:solidFill>
                <a:latin typeface="Cambria Math"/>
              </a:rPr>
              <a:t>0.101→0.010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989320"/>
            <a:ext cx="10881360" cy="13716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PingFang SC"/>
              </a:rPr>
              <a:t>Takeaway  </a:t>
            </a:r>
            <a:r>
              <a:rPr sz="1100" b="0">
                <a:solidFill>
                  <a:srgbClr val="64748B"/>
                </a:solidFill>
                <a:latin typeface="PingFang SC"/>
              </a:rPr>
              <a:t>理论纯度最低，但实验效果最亮。这是下一阶段最值得深挖的方向。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0" y="274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ingFang SC"/>
              </a:rPr>
              <a:t>D2  1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D2 对称约束：这是什么？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PingFang SC"/>
              </a:rPr>
              <a:t>数字 0 和 8 的左右 + 上下对称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直觉解释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数字 0 和 8 天然更接近左右对称 + 上下对称。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7510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如果模型生成的 0 明显向左斜，从结构上就“不够像”。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3113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这种约束只针对特定数字（0 和 8），不是对所有数字施加。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7860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D2 群是什么？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D2 是一组对称操作，包含四个元素：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8211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  I = 不动（恒等变换）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3814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  H = 水平翻转（左右镜像）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9417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  V = 垂直翻转（上下镜像）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5020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  R = 180° 旋转（等价于 H 和 V 连续做）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06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如果一张图像在这四个操作下都不变，就是 D2 对称的。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989320"/>
            <a:ext cx="10881360" cy="13716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PingFang SC"/>
              </a:rPr>
              <a:t>Takeaway  </a:t>
            </a:r>
            <a:r>
              <a:rPr sz="1100" b="0">
                <a:solidFill>
                  <a:srgbClr val="64748B"/>
                </a:solidFill>
                <a:latin typeface="PingFang SC"/>
              </a:rPr>
              <a:t>D2 对称是一种很强的结构约束。接下来看如何用一个简洁的公式实现它。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0" y="274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ingFang SC"/>
              </a:rPr>
              <a:t>D2  2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D2 对称：群平均公式与证明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PingFang SC"/>
              </a:rPr>
              <a:t>四个版本取平均 = 精确正交投影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核心公式：群平均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把原图、水平翻转、垂直翻转、180°旋转这四个版本取平均：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75104"/>
            <a:ext cx="10881360" cy="74371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q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43684"/>
            <a:ext cx="4568952" cy="6065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2773680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PingFang SC"/>
              </a:rPr>
              <a:t>结果自然就是左右 + 上下对称的，因为每个方向的信息都被平均了。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84576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为什么是“正交投影”？三个条件：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320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① 不变性：对 P(x) 再做任何 H/V/R，结果不变。因为群元素左乘只是重排，平均不变。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88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② 幂等性：P(P(x)) = P(x)。已经对称的图再平均还是自己。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4411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③ 非扩张性：||P(x)−P(y)|| ≤ ||x−y||。H/V/R 是欧氏空间中的正交变换，平均是凸组合。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73296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数学地位：精确正交投影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207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和 Ink 一样是理论最干净的一类。形式极其简单，只需一行代码。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989320"/>
            <a:ext cx="10881360" cy="13716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PingFang SC"/>
              </a:rPr>
              <a:t>Takeaway  </a:t>
            </a:r>
            <a:r>
              <a:rPr sz="1100" b="0">
                <a:solidFill>
                  <a:srgbClr val="64748B"/>
                </a:solidFill>
                <a:latin typeface="PingFang SC"/>
              </a:rPr>
              <a:t>数学最干净的投影之一：简单、精确、可证明。但实验结果有意外……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0" y="274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ingFang SC"/>
              </a:rPr>
              <a:t>D2  3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D2 对称：关键发现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PingFang SC"/>
              </a:rPr>
              <a:t>“数学上更完美” ≠ “视觉上更自然”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实验结果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19072"/>
            <a:ext cx="10972800" cy="9601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92224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4ED8"/>
                </a:solidFill>
                <a:latin typeface="PingFang SC"/>
              </a:rPr>
              <a:t>对称误差从 0.138 压到 1.8×10⁻⁹（几乎完美对称）</a:t>
            </a:r>
          </a:p>
          <a:p>
            <a:pPr>
              <a:spcBef>
                <a:spcPts val="300"/>
              </a:spcBef>
            </a:pPr>
            <a:r>
              <a:rPr sz="1400" b="1">
                <a:solidFill>
                  <a:srgbClr val="B91C1C"/>
                </a:solidFill>
                <a:latin typeface="PingFang SC"/>
              </a:rPr>
              <a:t>但是：0/8 的可识别性从 0.900 降到 0.758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64748B"/>
                </a:solidFill>
                <a:latin typeface="PingFang SC"/>
              </a:rPr>
              <a:t>约束满足得更精确了，但图像反而更不像真实手写字。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1635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为什么会这样？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6382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真实手写字本身就不是严格 D2 对称的——每个人写的 0 都有微小的不对称。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1985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强制完美对称后，图像变得“太完美”，脱离了真实数据的分布。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7588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就像把所有人的脸强制变成完美对称，看起来反而不自然。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0507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这是整个研究最重要的认知升级之一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5254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“约束满足得更精确”不自动等于“图像更自然”。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0857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与 Hu 的对比：Hu 是约束 + 质量双赢，D2 是约束满足但质量下降。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6460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PingFang SC"/>
              </a:rPr>
              <a:t>这是老师很可能追问的一个点。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989320"/>
            <a:ext cx="10881360" cy="13716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PingFang SC"/>
              </a:rPr>
              <a:t>Takeaway  </a:t>
            </a:r>
            <a:r>
              <a:rPr sz="1100" b="0">
                <a:solidFill>
                  <a:srgbClr val="64748B"/>
                </a:solidFill>
                <a:latin typeface="PingFang SC"/>
              </a:rPr>
              <a:t>理论最干净的投影，但“干净”≠“有用”。这是 GENESIS 研究中最有价值的发现之一。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0" y="274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ingFang SC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实验结果总览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PingFang SC"/>
              </a:rPr>
              <a:t>单约束 / 多约束 / cadence /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228600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4630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PingFang SC"/>
              </a:rPr>
              <a:t>A violation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17373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4ED8"/>
                </a:solidFill>
                <a:latin typeface="Cambria Math"/>
              </a:rPr>
              <a:t>193.57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417320"/>
            <a:ext cx="228600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4630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PingFang SC"/>
              </a:rPr>
              <a:t>B violation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7373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4ED8"/>
                </a:solidFill>
                <a:latin typeface="Cambria Math"/>
              </a:rPr>
              <a:t>8.29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417320"/>
            <a:ext cx="228600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79" y="14630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EFF6FF"/>
                </a:solidFill>
                <a:latin typeface="PingFang SC"/>
              </a:rPr>
              <a:t>C violation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79" y="17373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mbria Math"/>
              </a:rPr>
              <a:t>5.2×10⁻⁶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377440"/>
            <a:ext cx="228600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24231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PingFang SC"/>
              </a:rPr>
              <a:t>A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" y="26974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4ED8"/>
                </a:solidFill>
                <a:latin typeface="Cambria Math"/>
              </a:rPr>
              <a:t>0.450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2377440"/>
            <a:ext cx="228600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24231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PingFang SC"/>
              </a:rPr>
              <a:t>B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6974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4ED8"/>
                </a:solidFill>
                <a:latin typeface="Cambria Math"/>
              </a:rPr>
              <a:t>0.848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2377440"/>
            <a:ext cx="228600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79" y="24231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EFF6FF"/>
                </a:solidFill>
                <a:latin typeface="PingFang SC"/>
              </a:rPr>
              <a:t>C 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79" y="26974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mbria Math"/>
              </a:rPr>
              <a:t>0.837</a:t>
            </a:r>
          </a:p>
        </p:txBody>
      </p:sp>
      <p:pic>
        <p:nvPicPr>
          <p:cNvPr id="24" name="Picture 23" descr="figure8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25880"/>
            <a:ext cx="3657600" cy="100946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0080" y="34747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PingFang SC"/>
              </a:rPr>
              <a:t>更多发现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822191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E293B"/>
                </a:solidFill>
                <a:latin typeface="PingFang SC"/>
              </a:rPr>
              <a:t>cadence: every 1 → every 10，acc 0.837 → 0.743。终点都满足，但路径不同——轨迹很重要。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07822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E293B"/>
                </a:solidFill>
                <a:latin typeface="PingFang SC"/>
              </a:rPr>
              <a:t>多约束: ink+centroid+tv 同时压下，acc 0.460 → 0.417，tradeoff 真实存在。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33425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E293B"/>
                </a:solidFill>
                <a:latin typeface="PingFang SC"/>
              </a:rPr>
              <a:t>order: ink→centroid→tv 最优 (0.417)，tv→ink→centroid 最差 (0.267)，顺序很重要。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59028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E293B"/>
                </a:solidFill>
                <a:latin typeface="PingFang SC"/>
              </a:rPr>
              <a:t>multi-cadence: 高频 centroid 是主要质量瓶颈，不是 TV。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989320"/>
            <a:ext cx="10881360" cy="13716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PingFang SC"/>
              </a:rPr>
              <a:t>Takeaway  </a:t>
            </a:r>
            <a:r>
              <a:rPr sz="1100" b="0">
                <a:solidFill>
                  <a:srgbClr val="64748B"/>
                </a:solidFill>
                <a:latin typeface="PingFang SC"/>
              </a:rPr>
              <a:t>单约束极强；多约束有真实 tradeoff；顺序和频率是新的研究维度。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0" y="274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ingFang SC"/>
              </a:rPr>
              <a:t>Figures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实验图表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PingFang SC"/>
              </a:rPr>
              <a:t>多约束 / Hu / 对称 / order / cadence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ure9_constraint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2264521"/>
          </a:xfrm>
          <a:prstGeom prst="rect">
            <a:avLst/>
          </a:prstGeom>
        </p:spPr>
      </p:pic>
      <p:pic>
        <p:nvPicPr>
          <p:cNvPr id="7" name="Picture 6" descr="figure6_hu_mo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371600"/>
            <a:ext cx="3657600" cy="1409279"/>
          </a:xfrm>
          <a:prstGeom prst="rect">
            <a:avLst/>
          </a:prstGeom>
        </p:spPr>
      </p:pic>
      <p:pic>
        <p:nvPicPr>
          <p:cNvPr id="8" name="Picture 7" descr="figure10_symmetry_qua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371600"/>
            <a:ext cx="3657600" cy="1093189"/>
          </a:xfrm>
          <a:prstGeom prst="rect">
            <a:avLst/>
          </a:prstGeom>
        </p:spPr>
      </p:pic>
      <p:pic>
        <p:nvPicPr>
          <p:cNvPr id="9" name="Picture 8" descr="figure11_order_abl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49039"/>
            <a:ext cx="3657600" cy="1299895"/>
          </a:xfrm>
          <a:prstGeom prst="rect">
            <a:avLst/>
          </a:prstGeom>
        </p:spPr>
      </p:pic>
      <p:pic>
        <p:nvPicPr>
          <p:cNvPr id="10" name="Picture 9" descr="figure12_multi_cade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3749039"/>
            <a:ext cx="3657600" cy="13016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0" y="3749039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左上：多约束质量对比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中上：Hu 矩约束效果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右上：对称约束效果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左下：order ablation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中下：multi-cadence ablation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0" y="274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ingFang SC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总结与下一步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088136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 Math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4173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PingFang SC"/>
              </a:rPr>
              <a:t>采样期显式约束路线可行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2880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PingFang SC"/>
              </a:rPr>
              <a:t>Ink violation 压到 5.2×10⁻⁶，同时 accuracy 基本不损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 Math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6060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PingFang SC"/>
              </a:rPr>
              <a:t>不同约束对质量影响差异很大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01752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PingFang SC"/>
              </a:rPr>
              <a:t>Ink 几乎零代价，D2 伤语义，Hu 反而提升质量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94760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 Math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7947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PingFang SC"/>
              </a:rPr>
              <a:t>多约束 order / cadence 是核心研究问题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2062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PingFang SC"/>
              </a:rPr>
              <a:t>算子顺序和频率显著改变结果，是 operator-splitting 设计问题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074920"/>
            <a:ext cx="10972800" cy="12344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12064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PingFang SC"/>
              </a:rPr>
              <a:t>下一步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1E293B"/>
                </a:solidFill>
                <a:latin typeface="PingFang SC"/>
              </a:rPr>
              <a:t>  深挖 Hu：为什么能同时改善约束和质量？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1E293B"/>
                </a:solidFill>
                <a:latin typeface="PingFang SC"/>
              </a:rPr>
              <a:t>  多算子理论：排序敏感性能否用 splitting error 分析？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1E293B"/>
                </a:solidFill>
                <a:latin typeface="PingFang SC"/>
              </a:rPr>
              <a:t>  更复杂数据：验证框架在更高维场景的可移植性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